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venir Next LT Pro" panose="020B0504020202020204" pitchFamily="34" charset="0"/>
      <p:regular r:id="rId15"/>
      <p:bold r:id="rId16"/>
      <p:italic r:id="rId17"/>
      <p:boldItalic r:id="rId18"/>
    </p:embeddedFont>
    <p:embeddedFont>
      <p:font typeface="Gagalin" panose="00000500000000000000" pitchFamily="50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Mono Medium" panose="00000009000000000000" pitchFamily="49" charset="0"/>
      <p:regular r:id="rId24"/>
      <p: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1814E-0204-467C-A1DC-0EDD2F1C6F1A}" v="514" dt="2026-02-12T20:44:36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23EBE-A75C-4D5B-A478-E82A535548E3}" type="datetimeFigureOut"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F7D61-10EF-464C-9326-D5EFF00C10D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3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286" y="1349654"/>
            <a:ext cx="13244170" cy="3807562"/>
          </a:xfrm>
        </p:spPr>
        <p:txBody>
          <a:bodyPr anchor="b">
            <a:normAutofit/>
          </a:bodyPr>
          <a:lstStyle>
            <a:lvl1pPr algn="l">
              <a:defRPr sz="142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286" y="5672937"/>
            <a:ext cx="13244170" cy="1777594"/>
          </a:xfrm>
        </p:spPr>
        <p:txBody>
          <a:bodyPr>
            <a:normAutofit/>
          </a:bodyPr>
          <a:lstStyle>
            <a:lvl1pPr marL="0" indent="0" algn="l">
              <a:buNone/>
              <a:defRPr sz="4978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286" y="7627621"/>
            <a:ext cx="3291840" cy="438150"/>
          </a:xfrm>
        </p:spPr>
        <p:txBody>
          <a:bodyPr/>
          <a:lstStyle/>
          <a:p>
            <a:fld id="{965A7A7B-B71A-428D-833F-0F3507A6DB1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3616" y="7627621"/>
            <a:ext cx="3291840" cy="438150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1029053" y="416149"/>
            <a:ext cx="175565" cy="844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694383" y="5401441"/>
            <a:ext cx="13241635" cy="219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666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669852" y="0"/>
            <a:ext cx="13400936" cy="2422567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680314" y="0"/>
            <a:ext cx="13386816" cy="2414016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598601" y="944822"/>
            <a:ext cx="153619" cy="844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81" y="658368"/>
            <a:ext cx="12201754" cy="1415491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681" y="2973629"/>
            <a:ext cx="12201754" cy="44330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682" y="7627621"/>
            <a:ext cx="3291840" cy="438150"/>
          </a:xfrm>
        </p:spPr>
        <p:txBody>
          <a:bodyPr/>
          <a:lstStyle/>
          <a:p>
            <a:fld id="{5CF65307-640F-4AE7-B0BE-50C709AD86C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8595" y="7627621"/>
            <a:ext cx="3291840" cy="438150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7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669852" y="5977705"/>
            <a:ext cx="13361947" cy="987552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598601" y="6142297"/>
            <a:ext cx="175565" cy="658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41" y="768096"/>
            <a:ext cx="13068605" cy="4937760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498" y="6122823"/>
            <a:ext cx="12728448" cy="702259"/>
          </a:xfrm>
        </p:spPr>
        <p:txBody>
          <a:bodyPr anchor="ctr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4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669852" y="0"/>
            <a:ext cx="13400936" cy="2422567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680314" y="0"/>
            <a:ext cx="13386816" cy="2414016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598601" y="944822"/>
            <a:ext cx="153619" cy="844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81" y="658368"/>
            <a:ext cx="12201754" cy="1415491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8682" y="2973629"/>
            <a:ext cx="5925312" cy="44330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5123" y="2973629"/>
            <a:ext cx="5925312" cy="44330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682" y="7627621"/>
            <a:ext cx="3291840" cy="438150"/>
          </a:xfrm>
        </p:spPr>
        <p:txBody>
          <a:bodyPr/>
          <a:lstStyle/>
          <a:p>
            <a:fld id="{202278E8-5F4B-47D5-A617-8CCDF75D6A3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8595" y="7627621"/>
            <a:ext cx="3291840" cy="438150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1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669852" y="0"/>
            <a:ext cx="13400936" cy="2422567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680314" y="0"/>
            <a:ext cx="13386816" cy="2414016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598601" y="944822"/>
            <a:ext cx="153619" cy="844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81" y="658368"/>
            <a:ext cx="12201754" cy="1415491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82" y="2847180"/>
            <a:ext cx="5925312" cy="98869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8682" y="3844426"/>
            <a:ext cx="5925312" cy="356221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15123" y="2847180"/>
            <a:ext cx="5925312" cy="98869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15123" y="3844425"/>
            <a:ext cx="5925312" cy="3562213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682" y="7627621"/>
            <a:ext cx="3291840" cy="438150"/>
          </a:xfrm>
        </p:spPr>
        <p:txBody>
          <a:bodyPr/>
          <a:lstStyle/>
          <a:p>
            <a:fld id="{16AAFA52-7A21-407F-8339-40DF182D746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8595" y="7627621"/>
            <a:ext cx="3291840" cy="438150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799024" y="1840230"/>
            <a:ext cx="13100476" cy="454914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730901" y="3566158"/>
            <a:ext cx="153619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791" y="2326233"/>
            <a:ext cx="12212726" cy="3588106"/>
          </a:xfrm>
        </p:spPr>
        <p:txBody>
          <a:bodyPr>
            <a:normAutofit/>
          </a:bodyPr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9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1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669852" y="1394440"/>
            <a:ext cx="4488888" cy="55720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598601" y="1942050"/>
            <a:ext cx="175565" cy="987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051913"/>
            <a:ext cx="3719779" cy="2051914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230" y="2051914"/>
            <a:ext cx="8075981" cy="4915814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4114800"/>
            <a:ext cx="3719779" cy="2479853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416" y="7627621"/>
            <a:ext cx="3291840" cy="438150"/>
          </a:xfrm>
        </p:spPr>
        <p:txBody>
          <a:bodyPr/>
          <a:lstStyle/>
          <a:p>
            <a:fld id="{6E6483A1-31A8-47A2-AB0A-53A7803D5EBF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54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669852" y="1394440"/>
            <a:ext cx="4488888" cy="55720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598601" y="1942050"/>
            <a:ext cx="175565" cy="987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051913"/>
            <a:ext cx="3719779" cy="2051914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958230" y="1393546"/>
            <a:ext cx="8075981" cy="5574182"/>
          </a:xfrm>
        </p:spPr>
        <p:txBody>
          <a:bodyPr anchor="t">
            <a:normAutofit/>
          </a:bodyPr>
          <a:lstStyle>
            <a:lvl1pPr marL="0" indent="0">
              <a:buNone/>
              <a:defRPr sz="4978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4125773"/>
            <a:ext cx="3719779" cy="246888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416" y="7627621"/>
            <a:ext cx="3291840" cy="438150"/>
          </a:xfrm>
        </p:spPr>
        <p:txBody>
          <a:bodyPr/>
          <a:lstStyle/>
          <a:p>
            <a:fld id="{6D8810B9-2C7C-4CAF-99E2-617AE20BA33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3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1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35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47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93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86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21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73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480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1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058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4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3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2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92425" y="2345650"/>
            <a:ext cx="12144186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latin typeface="Gagalin" panose="00000500000000000000" pitchFamily="50" charset="0"/>
                <a:ea typeface="Roboto Mono Medium"/>
              </a:rPr>
              <a:t>Автоматизация внедрения в информационные системы</a:t>
            </a:r>
          </a:p>
          <a:p>
            <a:pPr>
              <a:lnSpc>
                <a:spcPts val="5550"/>
              </a:lnSpc>
            </a:pPr>
            <a:endParaRPr lang="en-US" sz="4450" dirty="0">
              <a:solidFill>
                <a:srgbClr val="FFFFFF"/>
              </a:solidFill>
              <a:latin typeface="Roboto Mono Medium"/>
              <a:ea typeface="Roboto Mono Medium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3174"/>
            <a:ext cx="13058775" cy="140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Контекст и актуальность: </a:t>
            </a:r>
            <a:r>
              <a:rPr lang="en-US" sz="4400" dirty="0" err="1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Зачем</a:t>
            </a:r>
            <a:r>
              <a:rPr lang="en-US" sz="44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  </a:t>
            </a:r>
            <a:r>
              <a:rPr lang="en-US" sz="4400" dirty="0" err="1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нам</a:t>
            </a:r>
            <a:r>
              <a:rPr lang="en-US" sz="44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 </a:t>
            </a:r>
            <a:r>
              <a:rPr lang="en-US" sz="4400" dirty="0" err="1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автоматизация</a:t>
            </a:r>
            <a:r>
              <a:rPr lang="en-US" sz="44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?</a:t>
            </a:r>
            <a:endParaRPr lang="en-US" sz="4400" dirty="0">
              <a:latin typeface="Gagalin" panose="00000500000000000000" pitchFamily="50" charset="0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5813" y="2125266"/>
            <a:ext cx="4210169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Растущая сложность систем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5813" y="2809399"/>
            <a:ext cx="13058775" cy="71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Современные информационные системы становятся все более комплексными. Количество взаимосвязей и зависимостей растет экспоненциально, что делает ручное управление практически невозможным и чревато ошибками.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5813" y="3857625"/>
            <a:ext cx="4883825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Требования к доступности 24/7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5813" y="4541758"/>
            <a:ext cx="13058775" cy="71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Непрерывность работы сервисов — критически важное условие для современного бизнеса. Любой простой приводит к значительным финансовым и репутационным потерям.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5813" y="5589984"/>
            <a:ext cx="5052179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Строгое соблюдение регламентов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5813" y="6274118"/>
            <a:ext cx="13058775" cy="71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Количество отраслевых стандартов и внутренних политик безопасности постоянно увеличивается. Ручное внедрение не гарантирует полного соответствия.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5813" y="7239000"/>
            <a:ext cx="13058775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Ручное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внедрение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становится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 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бутылочным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горлышком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,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тормозящим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развитие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бизнеса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.</a:t>
            </a:r>
            <a:endParaRPr lang="en-US" sz="1750">
              <a:latin typeface="Gagalin" panose="00000500000000000000" pitchFamily="50" charset="0"/>
              <a:ea typeface="Roboto"/>
              <a:cs typeface="Roboto"/>
            </a:endParaRPr>
          </a:p>
        </p:txBody>
      </p:sp>
      <p:pic>
        <p:nvPicPr>
          <p:cNvPr id="10" name="Рисунок 9" descr="Мем Зачем текст №264244">
            <a:extLst>
              <a:ext uri="{FF2B5EF4-FFF2-40B4-BE49-F238E27FC236}">
                <a16:creationId xmlns:a16="http://schemas.microsoft.com/office/drawing/2014/main" id="{AC178453-C405-A6DB-33C5-9585ED65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533" y="633174"/>
            <a:ext cx="2000887" cy="1881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0222" y="2127964"/>
            <a:ext cx="6391299" cy="397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b="1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 err="1">
                <a:latin typeface="Gagalin" panose="00000500000000000000" pitchFamily="50" charset="0"/>
                <a:ea typeface="Roboto"/>
                <a:cs typeface="Roboto"/>
              </a:rPr>
              <a:t>Фрагментация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- </a:t>
            </a:r>
            <a:r>
              <a:rPr lang="en-US" sz="1750" dirty="0" err="1">
                <a:latin typeface="Gagalin" panose="00000500000000000000" pitchFamily="50" charset="0"/>
                <a:ea typeface="Roboto"/>
                <a:cs typeface="Roboto"/>
              </a:rPr>
              <a:t>разрозненные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 системы и подходы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Дрейф конфигураций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несоответствие между документацией и реальностью</a:t>
            </a:r>
            <a:endParaRPr lang="en-US" sz="1750" dirty="0">
              <a:latin typeface="Gagalin" panose="00000500000000000000" pitchFamily="50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Высокие затраты труда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много ручной работы</a:t>
            </a:r>
            <a:endParaRPr lang="en-US" sz="1750" dirty="0">
              <a:latin typeface="Gagalin" panose="00000500000000000000" pitchFamily="50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Gagalin" panose="00000500000000000000" pitchFamily="50" charset="0"/>
              <a:ea typeface="Roboto"/>
              <a:cs typeface="Roboto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Дорогие ошибки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высокая стоимость ошибок в production</a:t>
            </a:r>
            <a:endParaRPr lang="en-US" sz="1750" dirty="0">
              <a:latin typeface="Gagalin" panose="00000500000000000000" pitchFamily="50" charset="0"/>
            </a:endParaRPr>
          </a:p>
        </p:txBody>
      </p:sp>
      <p:pic>
        <p:nvPicPr>
          <p:cNvPr id="4" name="Рисунок 3" descr="Я мои проблемы – смешной мем на Fishki.net">
            <a:extLst>
              <a:ext uri="{FF2B5EF4-FFF2-40B4-BE49-F238E27FC236}">
                <a16:creationId xmlns:a16="http://schemas.microsoft.com/office/drawing/2014/main" id="{22B4CCB0-0581-4677-5DB4-9D2F3F5E7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78" y="13058"/>
            <a:ext cx="7610475" cy="8218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CDA4A-568E-6044-645D-7F70FCB1F764}"/>
              </a:ext>
            </a:extLst>
          </p:cNvPr>
          <p:cNvSpPr txBox="1"/>
          <p:nvPr/>
        </p:nvSpPr>
        <p:spPr>
          <a:xfrm>
            <a:off x="884903" y="722670"/>
            <a:ext cx="576661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200" dirty="0">
                <a:latin typeface="Gagalin" panose="00000500000000000000" pitchFamily="50" charset="0"/>
                <a:ea typeface="Roboto"/>
                <a:cs typeface="Roboto"/>
              </a:rPr>
              <a:t>Проблемы ручной автоматизации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10617" y="1123078"/>
            <a:ext cx="7626507" cy="110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Целевая модель: "Инфраструктура как код" (IaC)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96235" y="2784495"/>
            <a:ext cx="7940889" cy="6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IaC — это философия управления и предоставления инфраструктуры с использованием файлов конфигурации, а не ручной настройки оборудования или интерактивных инструментов. Все процедуры внедрения описываются в виде исполняемых сценариев.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78232" y="3416395"/>
            <a:ext cx="163822" cy="1053714"/>
          </a:xfrm>
          <a:prstGeom prst="roundRect">
            <a:avLst>
              <a:gd name="adj" fmla="val 7696"/>
            </a:avLst>
          </a:prstGeom>
          <a:solidFill>
            <a:srgbClr val="212121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88152" y="4419285"/>
            <a:ext cx="473915" cy="1053713"/>
          </a:xfrm>
          <a:prstGeom prst="roundRect">
            <a:avLst>
              <a:gd name="adj" fmla="val 34683"/>
            </a:avLst>
          </a:prstGeom>
          <a:solidFill>
            <a:srgbClr val="DCFF50"/>
          </a:solidFill>
          <a:ln>
            <a:solidFill>
              <a:schemeClr val="tx1"/>
            </a:solidFill>
          </a:ln>
        </p:spPr>
      </p:sp>
      <p:sp>
        <p:nvSpPr>
          <p:cNvPr id="7" name="Text 4"/>
          <p:cNvSpPr/>
          <p:nvPr/>
        </p:nvSpPr>
        <p:spPr>
          <a:xfrm>
            <a:off x="6181487" y="3587234"/>
            <a:ext cx="17618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Повторяемость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96235" y="3815761"/>
            <a:ext cx="7784798" cy="46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Благодаря декларативному описанию конфигураций, результат развертывания всегда идентичен, независимо от количества повторений и среды. Это устраняет проблему "работает на моей машине".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64179" y="4056174"/>
            <a:ext cx="75332" cy="965225"/>
          </a:xfrm>
          <a:prstGeom prst="roundRect">
            <a:avLst>
              <a:gd name="adj" fmla="val 7696"/>
            </a:avLst>
          </a:prstGeom>
          <a:solidFill>
            <a:srgbClr val="212121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88152" y="4247904"/>
            <a:ext cx="341180" cy="994721"/>
          </a:xfrm>
          <a:prstGeom prst="roundRect">
            <a:avLst>
              <a:gd name="adj" fmla="val 34683"/>
            </a:avLst>
          </a:prstGeom>
          <a:solidFill>
            <a:srgbClr val="DCFF50"/>
          </a:solidFill>
          <a:ln/>
        </p:spPr>
      </p:sp>
      <p:sp>
        <p:nvSpPr>
          <p:cNvPr id="11" name="Text 8"/>
          <p:cNvSpPr/>
          <p:nvPr/>
        </p:nvSpPr>
        <p:spPr>
          <a:xfrm>
            <a:off x="6181487" y="4625221"/>
            <a:ext cx="17618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Версионность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81487" y="4897993"/>
            <a:ext cx="779954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Сценарии хранятся в системах контроля версий (например, Git), что позволяет отслеживать все изменения, откатываться к предыдущим состояниям и работать в команде над развитием инфраструктуры.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13" name="Shape 10"/>
          <p:cNvSpPr/>
          <p:nvPr/>
        </p:nvSpPr>
        <p:spPr>
          <a:xfrm flipH="1">
            <a:off x="5288092" y="5477621"/>
            <a:ext cx="691584" cy="979972"/>
          </a:xfrm>
          <a:prstGeom prst="roundRect">
            <a:avLst>
              <a:gd name="adj" fmla="val 7696"/>
            </a:avLst>
          </a:prstGeom>
          <a:solidFill>
            <a:srgbClr val="212121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89946" y="4990924"/>
            <a:ext cx="60960" cy="950476"/>
          </a:xfrm>
          <a:prstGeom prst="roundRect">
            <a:avLst>
              <a:gd name="adj" fmla="val 34683"/>
            </a:avLst>
          </a:prstGeom>
          <a:solidFill>
            <a:srgbClr val="DCFF50"/>
          </a:solidFill>
          <a:ln/>
        </p:spPr>
      </p:sp>
      <p:sp>
        <p:nvSpPr>
          <p:cNvPr id="15" name="Text 12"/>
          <p:cNvSpPr/>
          <p:nvPr/>
        </p:nvSpPr>
        <p:spPr>
          <a:xfrm>
            <a:off x="6181487" y="5663208"/>
            <a:ext cx="17618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Скорость</a:t>
            </a:r>
            <a:endParaRPr lang="en-US" sz="1200" dirty="0">
              <a:latin typeface="Gagalin" panose="00000500000000000000" pitchFamily="50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81487" y="5935980"/>
            <a:ext cx="779954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Автоматические агенты и роботы выполняют задачи развертывания значительно быстрее и точнее человека, сокращая время вывода новых функций на рынок и восстановления после сбоев.</a:t>
            </a:r>
            <a:endParaRPr lang="en-US" sz="1200" dirty="0">
              <a:latin typeface="Gagalin" panose="00000500000000000000" pitchFamily="50" charset="0"/>
            </a:endParaRPr>
          </a:p>
        </p:txBody>
      </p:sp>
      <p:pic>
        <p:nvPicPr>
          <p:cNvPr id="17" name="Рисунок 16" descr="Мем: &quot;IT инфраструктура&quot; - Все шаблоны - Meme-arsenal.com">
            <a:extLst>
              <a:ext uri="{FF2B5EF4-FFF2-40B4-BE49-F238E27FC236}">
                <a16:creationId xmlns:a16="http://schemas.microsoft.com/office/drawing/2014/main" id="{53327DF1-70A7-EBCD-E8ED-4F76E9622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4" y="-1690"/>
            <a:ext cx="5988153" cy="8232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0800000" flipV="1">
            <a:off x="690552" y="1004849"/>
            <a:ext cx="9001761" cy="114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Архитектура автоматизированного конвейера</a:t>
            </a:r>
            <a:endParaRPr lang="en-US" dirty="0">
              <a:latin typeface="Gagalin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8319" y="3567497"/>
            <a:ext cx="5993092" cy="109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Автоматизированный конвейер внедрения состоит из последовательных этапов, обеспечивающих бесшовную и надежную доставку обновлений.</a:t>
            </a:r>
            <a:endParaRPr lang="en-US" dirty="0">
              <a:latin typeface="Gagalin" panose="000005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4861" y="4917162"/>
            <a:ext cx="718771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Подготовка</a:t>
            </a:r>
            <a:r>
              <a:rPr lang="en-US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Проверка готовности пакета</a:t>
            </a:r>
            <a:endParaRPr lang="en-US" dirty="0">
              <a:latin typeface="Gagalin" panose="00000500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Выполнение</a:t>
            </a:r>
            <a:r>
              <a:rPr lang="en-US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Автодоставка и конфигурация</a:t>
            </a:r>
            <a:endParaRPr lang="en-US" dirty="0">
              <a:latin typeface="Gagalin" panose="00000500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Контроль</a:t>
            </a:r>
            <a:r>
              <a:rPr lang="en-US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Проверка состояния и верификация</a:t>
            </a:r>
            <a:endParaRPr lang="en-US" dirty="0">
              <a:latin typeface="Gagalin" panose="00000500000000000000" pitchFamily="50" charset="0"/>
            </a:endParaRPr>
          </a:p>
        </p:txBody>
      </p:sp>
      <p:pic>
        <p:nvPicPr>
          <p:cNvPr id="8" name="Рисунок 7" descr="Архи-архитектура МКБ: как сделать, чтобы все друг друга услышали / Хабр">
            <a:extLst>
              <a:ext uri="{FF2B5EF4-FFF2-40B4-BE49-F238E27FC236}">
                <a16:creationId xmlns:a16="http://schemas.microsoft.com/office/drawing/2014/main" id="{8E7B9DB2-B42C-504D-E3C9-796969CA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542" y="4917"/>
            <a:ext cx="7010400" cy="8219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810816"/>
            <a:ext cx="13159740" cy="1313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Уровни автоматизации: От скриптов до самообслуживания</a:t>
            </a:r>
            <a:endParaRPr lang="en-US" sz="4100" dirty="0">
              <a:latin typeface="Gagalin" panose="00000500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50205" y="2659820"/>
            <a:ext cx="3836789" cy="1181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Экспертный: Самообслуживание (Self-service)</a:t>
            </a:r>
            <a:endParaRPr lang="en-US" sz="2450" dirty="0">
              <a:latin typeface="Gagalin" panose="00000500000000000000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850205" y="4042484"/>
            <a:ext cx="3836789" cy="194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Максимальный уровень автоматизации. Внедрение инициируется автоматически при соблюдении определенных условий (например, прохождение всех тестов), минимизируя ручное вмешательство.</a:t>
            </a:r>
            <a:endParaRPr lang="en-US" sz="1650" dirty="0">
              <a:latin typeface="Gagalin" panose="00000500000000000000" pitchFamily="50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96746" y="3329400"/>
            <a:ext cx="3836789" cy="78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Продвинутый: Оркестрация</a:t>
            </a:r>
            <a:endParaRPr lang="en-US" sz="2450" dirty="0">
              <a:latin typeface="Gagalin" panose="00000500000000000000" pitchFamily="50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396746" y="4233798"/>
            <a:ext cx="3836789" cy="194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Согласованное и управляемое внедрение изменений в несколько взаимосвязанных систем, обеспечивающее правильную последовательность и устранение конфликтов.</a:t>
            </a:r>
            <a:endParaRPr lang="en-US" sz="1650" dirty="0">
              <a:latin typeface="Gagalin" panose="00000500000000000000" pitchFamily="50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32271" y="4041302"/>
            <a:ext cx="3151465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Базовый: Скрипты</a:t>
            </a:r>
            <a:endParaRPr lang="en-US" sz="2450" dirty="0">
              <a:latin typeface="Gagalin" panose="00000500000000000000" pitchFamily="50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32271" y="4551842"/>
            <a:ext cx="3836789" cy="12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Автоматизация типовых, повторяющихся операций с помощью небольших скриптов. Это первый шаг к сокращению рутинных задач.</a:t>
            </a:r>
            <a:endParaRPr lang="en-US" sz="1650" dirty="0">
              <a:latin typeface="Gagalin" panose="000005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887" y="173674"/>
            <a:ext cx="15520550" cy="150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Обеспечение качества (QA) в автоматизации</a:t>
            </a:r>
            <a:endParaRPr lang="en-US" sz="4450" dirty="0">
              <a:latin typeface="Gagalin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6590" y="1504977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Автоматические фильтры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6589" y="2051984"/>
            <a:ext cx="4591998" cy="63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Система автоматически проверяет пакет обновлений на соответствие стандартам и отсутствие критических ошибок. Непрошедшие тесты обновления блокируются до исправления.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65790" y="1510377"/>
            <a:ext cx="3911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Изолированные песочницы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65790" y="2042636"/>
            <a:ext cx="3913571" cy="63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Для каждого внедрения создаются временные, изолированные среды, где изменения могут быть безопасно протестированы без влияния на рабочие системы.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4835" y="1504508"/>
            <a:ext cx="470998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Результат:</a:t>
            </a:r>
            <a:r>
              <a:rPr lang="en-US" sz="1400" dirty="0">
                <a:latin typeface="Gagalin" panose="00000500000000000000" pitchFamily="50" charset="0"/>
                <a:ea typeface="Roboto"/>
                <a:cs typeface="Roboto"/>
              </a:rPr>
              <a:t> </a:t>
            </a:r>
            <a:r>
              <a:rPr lang="en-US" sz="1750" dirty="0">
                <a:latin typeface="Gagalin" panose="00000500000000000000" pitchFamily="50" charset="0"/>
                <a:ea typeface="Roboto"/>
                <a:cs typeface="Roboto"/>
              </a:rPr>
              <a:t>В основную систему попадают только проверенные и стабильные изменения, значительно снижая риск инцидентов.</a:t>
            </a:r>
          </a:p>
        </p:txBody>
      </p:sp>
      <p:pic>
        <p:nvPicPr>
          <p:cNvPr id="10" name="Рисунок 9" descr="Мем: &quot;У тебя есть автоматизация на проекте? Лучше, у меня есть автоматизация  создания тасков на автоматизацию&quot; - Все шаблоны - Meme-arsenal.com">
            <a:extLst>
              <a:ext uri="{FF2B5EF4-FFF2-40B4-BE49-F238E27FC236}">
                <a16:creationId xmlns:a16="http://schemas.microsoft.com/office/drawing/2014/main" id="{49A2423A-06B8-FC99-B651-44DB7BF9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113739"/>
            <a:ext cx="14630397" cy="41169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1569" y="305862"/>
            <a:ext cx="11481307" cy="71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2800" dirty="0" err="1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Безопасность</a:t>
            </a:r>
            <a:r>
              <a:rPr lang="en-US" sz="28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 и </a:t>
            </a:r>
            <a:r>
              <a:rPr lang="en-US" sz="2800" dirty="0" err="1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соответствие</a:t>
            </a:r>
            <a:r>
              <a:rPr lang="en-US" sz="2800" dirty="0">
                <a:latin typeface="Gagalin" panose="00000500000000000000" pitchFamily="50" charset="0"/>
                <a:ea typeface="Roboto Mono Medium"/>
                <a:cs typeface="Roboto Mono Medium" pitchFamily="34" charset="-120"/>
              </a:rPr>
              <a:t> (Compliance)</a:t>
            </a:r>
            <a:endParaRPr lang="en-US" sz="2800" dirty="0">
              <a:latin typeface="Gagalin" panose="00000500000000000000" pitchFamily="50" charset="0"/>
              <a:ea typeface="Roboto Mono Medium"/>
            </a:endParaRPr>
          </a:p>
        </p:txBody>
      </p:sp>
      <p:sp>
        <p:nvSpPr>
          <p:cNvPr id="4" name="Text 1"/>
          <p:cNvSpPr/>
          <p:nvPr/>
        </p:nvSpPr>
        <p:spPr>
          <a:xfrm>
            <a:off x="1530906" y="1368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Контроль доступа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30906" y="1802799"/>
            <a:ext cx="342149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Исключение прямого доступа персонала к критически важным системам и базам данных. Все операции выполняются через автоматизированные сценарии с заданными правами.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07248" y="1368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Прослеживаемость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07248" y="1943476"/>
            <a:ext cx="342149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Полный и неизменяемый цифровой след всех операций: кто инициировал, какой сценарий был выполнен, каковы были результаты, время и дата. Это обеспечивает прозрачность и облегчает аудит.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950877" y="1368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Безопасный откат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950877" y="1943476"/>
            <a:ext cx="342149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В случае возникновения непредвиденных сбоев или ошибок, система автоматически или по команде может быстро вернуться к предыдущей стабильной версии конфигурации, минимизируя время простоя.</a:t>
            </a:r>
            <a:endParaRPr lang="en-US" sz="1750" dirty="0">
              <a:latin typeface="Gagalin" panose="00000500000000000000" pitchFamily="50" charset="0"/>
            </a:endParaRPr>
          </a:p>
        </p:txBody>
      </p:sp>
      <p:pic>
        <p:nvPicPr>
          <p:cNvPr id="14" name="Рисунок 13" descr="Мем Иллюзия безопасности №179895">
            <a:extLst>
              <a:ext uri="{FF2B5EF4-FFF2-40B4-BE49-F238E27FC236}">
                <a16:creationId xmlns:a16="http://schemas.microsoft.com/office/drawing/2014/main" id="{568076F5-41AA-3AA2-CB87-2AA6A024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766" y="5060267"/>
            <a:ext cx="8243667" cy="31734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351" y="330041"/>
            <a:ext cx="8589058" cy="797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Технологический стек автоматизации</a:t>
            </a:r>
            <a:endParaRPr lang="en-US" sz="4450" dirty="0">
              <a:latin typeface="Gagalin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2345" y="1557249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Хранилища конфигураций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344" y="2060011"/>
            <a:ext cx="82643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Системы, такие </a:t>
            </a:r>
            <a:r>
              <a:rPr lang="en-US" sz="1750" dirty="0" err="1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как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 Git,  </a:t>
            </a:r>
            <a:r>
              <a:rPr lang="en-US" sz="1750" dirty="0" err="1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HashiCorp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Vault, Ansible Vault, используемые для централизованного и версионированного хранения всех настроек и секретов.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3351" y="3081733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Инструменты управления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3350" y="3746728"/>
            <a:ext cx="67895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Платформы, оркестрирующие процессы развертывания и управления, такие как Ansible, Puppet, Chef, Terraform, Kubernetes.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3351" y="5284643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Системы мониторинга</a:t>
            </a:r>
            <a:endParaRPr lang="en-US" sz="2200" dirty="0">
              <a:latin typeface="Gagalin" panose="0000050000000000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3855" y="5890644"/>
            <a:ext cx="652403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Инструменты для отслеживания состояния и производительности систем в реальном времени (Prometheus, Grafana, ELK Stack).</a:t>
            </a:r>
            <a:endParaRPr lang="en-US" sz="1750" dirty="0">
              <a:latin typeface="Gagalin" panose="00000500000000000000" pitchFamily="50" charset="0"/>
            </a:endParaRPr>
          </a:p>
        </p:txBody>
      </p:sp>
      <p:pic>
        <p:nvPicPr>
          <p:cNvPr id="10" name="Рисунок 9" descr="Github – Бесплатные иконки: Социальное">
            <a:extLst>
              <a:ext uri="{FF2B5EF4-FFF2-40B4-BE49-F238E27FC236}">
                <a16:creationId xmlns:a16="http://schemas.microsoft.com/office/drawing/2014/main" id="{5C160AA4-EFD0-63F4-E3C3-97E0FDAF8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709" y="2059045"/>
            <a:ext cx="401165" cy="451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7692"/>
            <a:ext cx="115682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Gagalin" panose="00000500000000000000" pitchFamily="50" charset="0"/>
                <a:ea typeface="Roboto Mono Medium" pitchFamily="34" charset="-122"/>
                <a:cs typeface="Roboto Mono Medium" pitchFamily="34" charset="-120"/>
              </a:rPr>
              <a:t>Экономический эффект автоматизации</a:t>
            </a:r>
            <a:endParaRPr lang="en-US" sz="4450" dirty="0">
              <a:latin typeface="Gagalin" panose="00000500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431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40% - Снижение трудозатрат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Освобождение специалистов от рутинных задач, позволяя им сосредоточиться на стратегическом развитии и инновациях.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240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80% - Минимизация убытков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Сокращение простоев и снижение стоимости ошибок благодаря автоматизированным проверкам и быстрому восстановлению.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0050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50% - Ускорение Time-to-Market</a:t>
            </a: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 - Быстрый вывод новых функций и продуктов на рынок, опережая конкурентов.</a:t>
            </a:r>
            <a:endParaRPr lang="en-US" sz="1750" dirty="0">
              <a:latin typeface="Gagalin" panose="00000500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62308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Gagalin" panose="00000500000000000000" pitchFamily="50" charset="0"/>
                <a:ea typeface="Roboto" pitchFamily="34" charset="-122"/>
                <a:cs typeface="Roboto" pitchFamily="34" charset="-120"/>
              </a:rPr>
              <a:t>Автоматизация внедрения — это стратегическая инвестиция в будущее компании, обеспечивающая устойчивый рост и конкурентное преимущество.</a:t>
            </a:r>
            <a:endParaRPr lang="en-US" sz="1750" dirty="0">
              <a:latin typeface="Gagalin" panose="00000500000000000000" pitchFamily="50" charset="0"/>
            </a:endParaRPr>
          </a:p>
        </p:txBody>
      </p:sp>
      <p:pic>
        <p:nvPicPr>
          <p:cNvPr id="7" name="Рисунок 6" descr="Что означает мем Stonks?» — Яндекс Кью">
            <a:extLst>
              <a:ext uri="{FF2B5EF4-FFF2-40B4-BE49-F238E27FC236}">
                <a16:creationId xmlns:a16="http://schemas.microsoft.com/office/drawing/2014/main" id="{6FAEAC80-4847-750C-D2FE-00357A335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5" y="9833"/>
            <a:ext cx="14640232" cy="18828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852FD4-7278-B1D5-48E4-9954C7B04335}"/>
              </a:ext>
            </a:extLst>
          </p:cNvPr>
          <p:cNvSpPr txBox="1"/>
          <p:nvPr/>
        </p:nvSpPr>
        <p:spPr>
          <a:xfrm>
            <a:off x="825910" y="2757949"/>
            <a:ext cx="11710217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ru-RU" sz="4800" dirty="0">
              <a:latin typeface="Gagalin" panose="00000500000000000000" pitchFamily="50" charset="0"/>
              <a:ea typeface="Roboto"/>
              <a:cs typeface="Roboto"/>
            </a:endParaRPr>
          </a:p>
          <a:p>
            <a:endParaRPr lang="ru-RU" dirty="0">
              <a:latin typeface="Gagalin" panose="00000500000000000000" pitchFamily="50" charset="0"/>
              <a:ea typeface="Roboto"/>
              <a:cs typeface="Roboto"/>
            </a:endParaRPr>
          </a:p>
          <a:p>
            <a:endParaRPr lang="ru-RU" dirty="0">
              <a:latin typeface="Gagalin" panose="00000500000000000000" pitchFamily="50" charset="0"/>
              <a:ea typeface="Roboto"/>
              <a:cs typeface="Roboto"/>
            </a:endParaRPr>
          </a:p>
          <a:p>
            <a:endParaRPr lang="ru-RU" dirty="0">
              <a:latin typeface="Gagalin" panose="00000500000000000000" pitchFamily="50" charset="0"/>
              <a:ea typeface="Roboto"/>
              <a:cs typeface="Roboto"/>
            </a:endParaRPr>
          </a:p>
          <a:p>
            <a:r>
              <a:rPr lang="ru-RU" sz="2400" dirty="0">
                <a:latin typeface="Gagalin" panose="00000500000000000000" pitchFamily="50" charset="0"/>
                <a:ea typeface="+mn-lt"/>
                <a:cs typeface="+mn-lt"/>
              </a:rPr>
              <a:t>Автоматизация внедрения — это </a:t>
            </a:r>
            <a:r>
              <a:rPr lang="ru-RU" sz="2400" b="1" dirty="0">
                <a:latin typeface="Gagalin" panose="00000500000000000000" pitchFamily="50" charset="0"/>
                <a:ea typeface="+mn-lt"/>
                <a:cs typeface="+mn-lt"/>
              </a:rPr>
              <a:t>фундамент для цифровой трансформации</a:t>
            </a:r>
            <a:r>
              <a:rPr lang="ru-RU" sz="2400" dirty="0">
                <a:latin typeface="Gagalin" panose="00000500000000000000" pitchFamily="50" charset="0"/>
                <a:ea typeface="+mn-lt"/>
                <a:cs typeface="+mn-lt"/>
              </a:rPr>
              <a:t> любой компании.</a:t>
            </a:r>
            <a:endParaRPr lang="ru-RU" sz="2400" dirty="0">
              <a:latin typeface="Gagalin" panose="00000500000000000000" pitchFamily="50" charset="0"/>
              <a:ea typeface="Roboto"/>
              <a:cs typeface="Roboto"/>
            </a:endParaRPr>
          </a:p>
          <a:p>
            <a:endParaRPr lang="ru-RU" sz="2400" dirty="0">
              <a:latin typeface="Gagalin" panose="00000500000000000000" pitchFamily="50" charset="0"/>
              <a:ea typeface="+mn-lt"/>
              <a:cs typeface="+mn-lt"/>
            </a:endParaRPr>
          </a:p>
          <a:p>
            <a:r>
              <a:rPr lang="ru-RU" sz="2400" dirty="0">
                <a:latin typeface="Gagalin" panose="00000500000000000000" pitchFamily="50" charset="0"/>
                <a:ea typeface="+mn-lt"/>
                <a:cs typeface="+mn-lt"/>
              </a:rPr>
              <a:t> Переходя на модель «Инфраструктура как код» (</a:t>
            </a:r>
            <a:r>
              <a:rPr lang="ru-RU" sz="2400" dirty="0" err="1">
                <a:latin typeface="Gagalin" panose="00000500000000000000" pitchFamily="50" charset="0"/>
                <a:ea typeface="+mn-lt"/>
                <a:cs typeface="+mn-lt"/>
              </a:rPr>
              <a:t>IaC</a:t>
            </a:r>
            <a:r>
              <a:rPr lang="ru-RU" sz="2400" dirty="0">
                <a:latin typeface="Gagalin" panose="00000500000000000000" pitchFamily="50" charset="0"/>
                <a:ea typeface="+mn-lt"/>
                <a:cs typeface="+mn-lt"/>
              </a:rPr>
              <a:t>), мы превращаем процесс обновления из рискованного события в предсказуемый, быстрый и безопасный конвейер. Это стратегическая инвестиция, которая дает устойчивое конкурентное преимущество и позволяет компании расти, не утопая в ошибках и рутине</a:t>
            </a:r>
            <a:endParaRPr lang="ru-RU" sz="2400" dirty="0">
              <a:latin typeface="Gagalin" panose="00000500000000000000" pitchFamily="50" charset="0"/>
              <a:ea typeface="Roboto"/>
              <a:cs typeface="Roboto"/>
            </a:endParaRPr>
          </a:p>
          <a:p>
            <a:pPr algn="l"/>
            <a:endParaRPr lang="ru-RU" sz="2400" dirty="0">
              <a:latin typeface="Gagalin" panose="00000500000000000000" pitchFamily="50" charset="0"/>
              <a:ea typeface="Roboto"/>
              <a:cs typeface="Roboto"/>
            </a:endParaRPr>
          </a:p>
        </p:txBody>
      </p:sp>
      <p:pic>
        <p:nvPicPr>
          <p:cNvPr id="3" name="Рисунок 2" descr="Мем: &quot;вывод делайте сами&quot; - Все шаблоны - Meme-arsenal.com">
            <a:extLst>
              <a:ext uri="{FF2B5EF4-FFF2-40B4-BE49-F238E27FC236}">
                <a16:creationId xmlns:a16="http://schemas.microsoft.com/office/drawing/2014/main" id="{65BC6CB5-3308-B2A1-A66E-44E1C131C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5"/>
            <a:ext cx="14630398" cy="31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2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Мем Спасибо за внимание если есть вопросы -- загуглите №250267">
            <a:extLst>
              <a:ext uri="{FF2B5EF4-FFF2-40B4-BE49-F238E27FC236}">
                <a16:creationId xmlns:a16="http://schemas.microsoft.com/office/drawing/2014/main" id="{1A29E81B-FE67-9A4F-D3BC-76167D24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899"/>
            <a:ext cx="14630398" cy="824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3541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738</Words>
  <Application>Microsoft Office PowerPoint</Application>
  <PresentationFormat>Произвольный</PresentationFormat>
  <Paragraphs>83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Roboto Mono Medium</vt:lpstr>
      <vt:lpstr>Calibri</vt:lpstr>
      <vt:lpstr>Roboto</vt:lpstr>
      <vt:lpstr>Avenir Next LT Pro</vt:lpstr>
      <vt:lpstr>Gagalin</vt:lpstr>
      <vt:lpstr>Arial</vt:lpstr>
      <vt:lpstr>AccentBoxVTI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Белевитин Евгений</cp:lastModifiedBy>
  <cp:revision>226</cp:revision>
  <dcterms:created xsi:type="dcterms:W3CDTF">2026-02-12T17:06:44Z</dcterms:created>
  <dcterms:modified xsi:type="dcterms:W3CDTF">2026-02-12T21:18:05Z</dcterms:modified>
</cp:coreProperties>
</file>